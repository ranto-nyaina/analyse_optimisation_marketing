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E2761"/>
                </a:solidFill>
                <a:latin typeface="Calibri"/>
              </a:defRPr>
            </a:pPr>
            <a:r>
              <a:rPr sz="1300" b="0" i="0" u="none" strike="noStrike">
                <a:solidFill>
                  <a:srgbClr val="1E2761"/>
                </a:solidFill>
                <a:latin typeface="Calibri"/>
              </a:rPr>
              <a:t>Taux de conversion par canal (%)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Taux de conversion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B1F2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Online</c:v>
                  </c:pt>
                  <c:pt idx="1">
                    <c:v>In-Store</c:v>
                  </c:pt>
                  <c:pt idx="2">
                    <c:v>Social</c:v>
                  </c:pt>
                  <c:pt idx="3">
                    <c:v>Email</c:v>
                  </c:pt>
                  <c:pt idx="4">
                    <c:v>TV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7.5</c:v>
                </c:pt>
                <c:pt idx="1">
                  <c:v>20</c:v>
                </c:pt>
                <c:pt idx="2">
                  <c:v>13.3</c:v>
                </c:pt>
                <c:pt idx="3">
                  <c:v>5</c:v>
                </c:pt>
                <c:pt idx="4">
                  <c:v>8.3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1B1F2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27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E6E9F2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27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logo_u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92040" y="502920"/>
            <a:ext cx="822960" cy="932688"/>
          </a:xfrm>
          <a:prstGeom prst="rect">
            <a:avLst/>
          </a:prstGeom>
        </p:spPr>
      </p:pic>
      <p:pic>
        <p:nvPicPr>
          <p:cNvPr id="3" name="Image 1" descr="logo_eni.jpe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7880" y="502920"/>
            <a:ext cx="960120" cy="932688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0" y="1600200"/>
            <a:ext cx="121916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UNIVERSITÉ DE FIANARANTSOA</a:t>
            </a:r>
            <a:endParaRPr lang="en-US" sz="1600" dirty="0"/>
          </a:p>
        </p:txBody>
      </p:sp>
      <p:sp>
        <p:nvSpPr>
          <p:cNvPr id="5" name="Text 1"/>
          <p:cNvSpPr/>
          <p:nvPr/>
        </p:nvSpPr>
        <p:spPr>
          <a:xfrm>
            <a:off x="0" y="1947672"/>
            <a:ext cx="121916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ÉCOLE NATIONALE D'INFORMATIQUE</a:t>
            </a:r>
            <a:endParaRPr lang="en-US" sz="1600" dirty="0"/>
          </a:p>
        </p:txBody>
      </p:sp>
      <p:sp>
        <p:nvSpPr>
          <p:cNvPr id="6" name="Text 2"/>
          <p:cNvSpPr/>
          <p:nvPr/>
        </p:nvSpPr>
        <p:spPr>
          <a:xfrm>
            <a:off x="0" y="2697480"/>
            <a:ext cx="1219169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Mention : Intelligence Artificielle   |   Parcours : ……………………</a:t>
            </a:r>
            <a:endParaRPr lang="en-US" sz="1300" dirty="0"/>
          </a:p>
        </p:txBody>
      </p:sp>
      <p:sp>
        <p:nvSpPr>
          <p:cNvPr id="7" name="Text 3"/>
          <p:cNvSpPr/>
          <p:nvPr/>
        </p:nvSpPr>
        <p:spPr>
          <a:xfrm>
            <a:off x="731520" y="3429000"/>
            <a:ext cx="10698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ANALYSE &amp; OPTIMISATION MARKETING</a:t>
            </a:r>
            <a:endParaRPr lang="en-US" sz="3400" dirty="0"/>
          </a:p>
        </p:txBody>
      </p:sp>
      <p:sp>
        <p:nvSpPr>
          <p:cNvPr id="8" name="Text 4"/>
          <p:cNvSpPr/>
          <p:nvPr/>
        </p:nvSpPr>
        <p:spPr>
          <a:xfrm>
            <a:off x="731520" y="4069080"/>
            <a:ext cx="10698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Segmentation client  •  Performance des campagnes  •  Stratégie digitale assistée par l'IA</a:t>
            </a:r>
            <a:endParaRPr lang="en-US" sz="1500" dirty="0"/>
          </a:p>
        </p:txBody>
      </p:sp>
      <p:sp>
        <p:nvSpPr>
          <p:cNvPr id="9" name="Text 5"/>
          <p:cNvSpPr/>
          <p:nvPr/>
        </p:nvSpPr>
        <p:spPr>
          <a:xfrm>
            <a:off x="0" y="5212080"/>
            <a:ext cx="1219169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Présenté par le groupe : ……………………………………………………………………………</a:t>
            </a:r>
            <a:endParaRPr lang="en-US" sz="1300" dirty="0"/>
          </a:p>
        </p:txBody>
      </p:sp>
      <p:sp>
        <p:nvSpPr>
          <p:cNvPr id="10" name="Text 6"/>
          <p:cNvSpPr/>
          <p:nvPr/>
        </p:nvSpPr>
        <p:spPr>
          <a:xfrm>
            <a:off x="0" y="5623560"/>
            <a:ext cx="1219169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Année universitaire : ……………… – ………………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Objectif du projet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Exploiter les données clients, produits, ventes et campagnes pour orienter des décisions marketing concrètes.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2606040" cy="3566160"/>
          </a:xfrm>
          <a:prstGeom prst="roundRect">
            <a:avLst>
              <a:gd name="adj" fmla="val 2807"/>
            </a:avLst>
          </a:prstGeom>
          <a:solidFill>
            <a:srgbClr val="F5F7FB"/>
          </a:solidFill>
          <a:ln/>
          <a:effectLst>
            <a:outerShdw sx="100000" sy="100000" kx="0" ky="0" algn="bl" rotWithShape="0" blurRad="76200" dist="25400" dir="5400000">
              <a:srgbClr val="8A94B8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508760" y="2194560"/>
            <a:ext cx="685800" cy="6858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6" name="Image 0" descr="icon_user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87068" y="2372868"/>
            <a:ext cx="329184" cy="32918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13232" y="3108960"/>
            <a:ext cx="2276856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Segmenter la clientèle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749808" y="3840480"/>
            <a:ext cx="2203704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partir des données clients et de leur historique de ventes.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3364992" y="1874520"/>
            <a:ext cx="2606040" cy="3566160"/>
          </a:xfrm>
          <a:prstGeom prst="roundRect">
            <a:avLst>
              <a:gd name="adj" fmla="val 2807"/>
            </a:avLst>
          </a:prstGeom>
          <a:solidFill>
            <a:srgbClr val="F5F7FB"/>
          </a:solidFill>
          <a:ln/>
          <a:effectLst>
            <a:outerShdw sx="100000" sy="100000" kx="0" ky="0" algn="bl" rotWithShape="0" blurRad="76200" dist="25400" dir="5400000">
              <a:srgbClr val="8A94B8">
                <a:alpha val="1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325112" y="2194560"/>
            <a:ext cx="685800" cy="6858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1" name="Image 1" descr="icon_bag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3420" y="2372868"/>
            <a:ext cx="329184" cy="32918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529584" y="3108960"/>
            <a:ext cx="2276856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Analyser le comportement d'achat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3566160" y="3840480"/>
            <a:ext cx="2203704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Produits achetés, fréquence, canaux privilégiés.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6181344" y="1874520"/>
            <a:ext cx="2606040" cy="3566160"/>
          </a:xfrm>
          <a:prstGeom prst="roundRect">
            <a:avLst>
              <a:gd name="adj" fmla="val 2807"/>
            </a:avLst>
          </a:prstGeom>
          <a:solidFill>
            <a:srgbClr val="F5F7FB"/>
          </a:solidFill>
          <a:ln/>
          <a:effectLst>
            <a:outerShdw sx="100000" sy="100000" kx="0" ky="0" algn="bl" rotWithShape="0" blurRad="76200" dist="25400" dir="5400000">
              <a:srgbClr val="8A94B8">
                <a:alpha val="1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7141464" y="2194560"/>
            <a:ext cx="685800" cy="6858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6" name="Image 2" descr="icon_trending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9772" y="2372868"/>
            <a:ext cx="329184" cy="32918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345936" y="3108960"/>
            <a:ext cx="2276856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Évaluer les campagnes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6382512" y="3840480"/>
            <a:ext cx="2203704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CTR, taux de conversion, CPC et CPA par canal.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8997696" y="1874520"/>
            <a:ext cx="2606040" cy="3566160"/>
          </a:xfrm>
          <a:prstGeom prst="roundRect">
            <a:avLst>
              <a:gd name="adj" fmla="val 2807"/>
            </a:avLst>
          </a:prstGeom>
          <a:solidFill>
            <a:srgbClr val="F5F7FB"/>
          </a:solidFill>
          <a:ln/>
          <a:effectLst>
            <a:outerShdw sx="100000" sy="100000" kx="0" ky="0" algn="bl" rotWithShape="0" blurRad="76200" dist="25400" dir="5400000">
              <a:srgbClr val="8A94B8">
                <a:alpha val="18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9957816" y="2194560"/>
            <a:ext cx="685800" cy="6858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1" name="Image 3" descr="icon_compas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36124" y="2372868"/>
            <a:ext cx="329184" cy="329184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162288" y="3108960"/>
            <a:ext cx="2276856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Proposer une stratégie digitale</a:t>
            </a:r>
            <a:endParaRPr lang="en-US" sz="1400" dirty="0"/>
          </a:p>
        </p:txBody>
      </p:sp>
      <p:sp>
        <p:nvSpPr>
          <p:cNvPr id="23" name="Text 17"/>
          <p:cNvSpPr/>
          <p:nvPr/>
        </p:nvSpPr>
        <p:spPr>
          <a:xfrm>
            <a:off x="9198864" y="3840480"/>
            <a:ext cx="2203704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Personnalisée par segment, assistée par l'IA générative.</a:t>
            </a:r>
            <a:endParaRPr lang="en-US" sz="1150" dirty="0"/>
          </a:p>
        </p:txBody>
      </p:sp>
      <p:sp>
        <p:nvSpPr>
          <p:cNvPr id="24" name="Text 18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 &amp; Optimisation Marketing  •  ENI Fianarantsoa</a:t>
            </a:r>
            <a:endParaRPr lang="en-US" sz="900" dirty="0"/>
          </a:p>
        </p:txBody>
      </p:sp>
      <p:sp>
        <p:nvSpPr>
          <p:cNvPr id="25" name="Text 19"/>
          <p:cNvSpPr/>
          <p:nvPr/>
        </p:nvSpPr>
        <p:spPr>
          <a:xfrm>
            <a:off x="11430000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Données disponibles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Quatre fichiers sources, rapprochés par jointure sur les identifiants client et produit.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2606040" cy="1645920"/>
          </a:xfrm>
          <a:prstGeom prst="roundRect">
            <a:avLst>
              <a:gd name="adj" fmla="val 4444"/>
            </a:avLst>
          </a:prstGeom>
          <a:solidFill>
            <a:srgbClr val="1E2761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2057400"/>
            <a:ext cx="731520" cy="731520"/>
          </a:xfrm>
          <a:prstGeom prst="ellipse">
            <a:avLst/>
          </a:prstGeom>
          <a:solidFill>
            <a:srgbClr val="F4623A"/>
          </a:solidFill>
          <a:ln/>
        </p:spPr>
      </p:sp>
      <p:pic>
        <p:nvPicPr>
          <p:cNvPr id="6" name="Image 0" descr="icon_user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7435" y="2247595"/>
            <a:ext cx="351130" cy="35113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00200" y="1801368"/>
            <a:ext cx="1371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3400" dirty="0"/>
          </a:p>
        </p:txBody>
      </p:sp>
      <p:sp>
        <p:nvSpPr>
          <p:cNvPr id="8" name="Text 5"/>
          <p:cNvSpPr/>
          <p:nvPr/>
        </p:nvSpPr>
        <p:spPr>
          <a:xfrm>
            <a:off x="1600200" y="246888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Clients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3364992" y="1600200"/>
            <a:ext cx="2606040" cy="1645920"/>
          </a:xfrm>
          <a:prstGeom prst="roundRect">
            <a:avLst>
              <a:gd name="adj" fmla="val 4444"/>
            </a:avLst>
          </a:prstGeom>
          <a:solidFill>
            <a:srgbClr val="1E2761"/>
          </a:solidFill>
          <a:ln/>
        </p:spPr>
      </p:sp>
      <p:sp>
        <p:nvSpPr>
          <p:cNvPr id="10" name="Shape 7"/>
          <p:cNvSpPr/>
          <p:nvPr/>
        </p:nvSpPr>
        <p:spPr>
          <a:xfrm>
            <a:off x="3593592" y="2057400"/>
            <a:ext cx="731520" cy="731520"/>
          </a:xfrm>
          <a:prstGeom prst="ellipse">
            <a:avLst/>
          </a:prstGeom>
          <a:solidFill>
            <a:srgbClr val="F4623A"/>
          </a:solidFill>
          <a:ln/>
        </p:spPr>
      </p:sp>
      <p:pic>
        <p:nvPicPr>
          <p:cNvPr id="11" name="Image 1" descr="icon_bag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83787" y="2247595"/>
            <a:ext cx="351130" cy="35113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416552" y="1801368"/>
            <a:ext cx="1371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3400" dirty="0"/>
          </a:p>
        </p:txBody>
      </p:sp>
      <p:sp>
        <p:nvSpPr>
          <p:cNvPr id="13" name="Text 9"/>
          <p:cNvSpPr/>
          <p:nvPr/>
        </p:nvSpPr>
        <p:spPr>
          <a:xfrm>
            <a:off x="4416552" y="246888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Ventes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181344" y="1600200"/>
            <a:ext cx="2606040" cy="1645920"/>
          </a:xfrm>
          <a:prstGeom prst="roundRect">
            <a:avLst>
              <a:gd name="adj" fmla="val 4444"/>
            </a:avLst>
          </a:prstGeom>
          <a:solidFill>
            <a:srgbClr val="1E2761"/>
          </a:solidFill>
          <a:ln/>
        </p:spPr>
      </p:sp>
      <p:sp>
        <p:nvSpPr>
          <p:cNvPr id="15" name="Shape 11"/>
          <p:cNvSpPr/>
          <p:nvPr/>
        </p:nvSpPr>
        <p:spPr>
          <a:xfrm>
            <a:off x="6409944" y="2057400"/>
            <a:ext cx="731520" cy="731520"/>
          </a:xfrm>
          <a:prstGeom prst="ellipse">
            <a:avLst/>
          </a:prstGeom>
          <a:solidFill>
            <a:srgbClr val="F4623A"/>
          </a:solidFill>
          <a:ln/>
        </p:spPr>
      </p:sp>
      <p:pic>
        <p:nvPicPr>
          <p:cNvPr id="16" name="Image 2" descr="icon_layer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00139" y="2247595"/>
            <a:ext cx="351130" cy="35113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7232904" y="1801368"/>
            <a:ext cx="1371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3400" dirty="0"/>
          </a:p>
        </p:txBody>
      </p:sp>
      <p:sp>
        <p:nvSpPr>
          <p:cNvPr id="18" name="Text 13"/>
          <p:cNvSpPr/>
          <p:nvPr/>
        </p:nvSpPr>
        <p:spPr>
          <a:xfrm>
            <a:off x="7232904" y="246888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Produits</a:t>
            </a:r>
            <a:endParaRPr lang="en-US" sz="1300" dirty="0"/>
          </a:p>
        </p:txBody>
      </p:sp>
      <p:sp>
        <p:nvSpPr>
          <p:cNvPr id="19" name="Shape 14"/>
          <p:cNvSpPr/>
          <p:nvPr/>
        </p:nvSpPr>
        <p:spPr>
          <a:xfrm>
            <a:off x="8997696" y="1600200"/>
            <a:ext cx="2606040" cy="1645920"/>
          </a:xfrm>
          <a:prstGeom prst="roundRect">
            <a:avLst>
              <a:gd name="adj" fmla="val 4444"/>
            </a:avLst>
          </a:prstGeom>
          <a:solidFill>
            <a:srgbClr val="1E2761"/>
          </a:solidFill>
          <a:ln/>
        </p:spPr>
      </p:sp>
      <p:sp>
        <p:nvSpPr>
          <p:cNvPr id="20" name="Shape 15"/>
          <p:cNvSpPr/>
          <p:nvPr/>
        </p:nvSpPr>
        <p:spPr>
          <a:xfrm>
            <a:off x="9226296" y="2057400"/>
            <a:ext cx="731520" cy="731520"/>
          </a:xfrm>
          <a:prstGeom prst="ellipse">
            <a:avLst/>
          </a:prstGeom>
          <a:solidFill>
            <a:srgbClr val="F4623A"/>
          </a:solidFill>
          <a:ln/>
        </p:spPr>
      </p:sp>
      <p:pic>
        <p:nvPicPr>
          <p:cNvPr id="21" name="Image 3" descr="icon_trending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16491" y="2247595"/>
            <a:ext cx="351130" cy="35113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0049256" y="1801368"/>
            <a:ext cx="1371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3400" dirty="0"/>
          </a:p>
        </p:txBody>
      </p:sp>
      <p:sp>
        <p:nvSpPr>
          <p:cNvPr id="23" name="Text 17"/>
          <p:cNvSpPr/>
          <p:nvPr/>
        </p:nvSpPr>
        <p:spPr>
          <a:xfrm>
            <a:off x="10049256" y="246888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Campagnes</a:t>
            </a:r>
            <a:endParaRPr lang="en-US" sz="1300" dirty="0"/>
          </a:p>
        </p:txBody>
      </p:sp>
      <p:sp>
        <p:nvSpPr>
          <p:cNvPr id="24" name="Text 18"/>
          <p:cNvSpPr/>
          <p:nvPr/>
        </p:nvSpPr>
        <p:spPr>
          <a:xfrm>
            <a:off x="548640" y="352044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Chiffre d'affaires calculé</a:t>
            </a:r>
            <a:endParaRPr lang="en-US" sz="1300" dirty="0"/>
          </a:p>
        </p:txBody>
      </p:sp>
      <p:sp>
        <p:nvSpPr>
          <p:cNvPr id="25" name="Text 19"/>
          <p:cNvSpPr/>
          <p:nvPr/>
        </p:nvSpPr>
        <p:spPr>
          <a:xfrm>
            <a:off x="548640" y="3840480"/>
            <a:ext cx="5120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462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475,00</a:t>
            </a:r>
            <a:endParaRPr lang="en-US" sz="3000" dirty="0"/>
          </a:p>
        </p:txBody>
      </p:sp>
      <p:sp>
        <p:nvSpPr>
          <p:cNvPr id="26" name="Text 20"/>
          <p:cNvSpPr/>
          <p:nvPr/>
        </p:nvSpPr>
        <p:spPr>
          <a:xfrm>
            <a:off x="548640" y="443484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Quantité × prix unitaire, agrégé sur les 5 ventes fournies.</a:t>
            </a:r>
            <a:endParaRPr lang="en-US" sz="1150" dirty="0"/>
          </a:p>
        </p:txBody>
      </p:sp>
      <p:sp>
        <p:nvSpPr>
          <p:cNvPr id="27" name="Shape 21"/>
          <p:cNvSpPr/>
          <p:nvPr/>
        </p:nvSpPr>
        <p:spPr>
          <a:xfrm>
            <a:off x="6035040" y="3566160"/>
            <a:ext cx="0" cy="1417320"/>
          </a:xfrm>
          <a:prstGeom prst="line">
            <a:avLst/>
          </a:prstGeom>
          <a:noFill/>
          <a:ln w="12700">
            <a:solidFill>
              <a:srgbClr val="D8DCEA"/>
            </a:solidFill>
            <a:prstDash val="solid"/>
          </a:ln>
        </p:spPr>
      </p:sp>
      <p:sp>
        <p:nvSpPr>
          <p:cNvPr id="28" name="Text 22"/>
          <p:cNvSpPr/>
          <p:nvPr/>
        </p:nvSpPr>
        <p:spPr>
          <a:xfrm>
            <a:off x="6400800" y="352044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marketing cumulé</a:t>
            </a:r>
            <a:endParaRPr lang="en-US" sz="1300" dirty="0"/>
          </a:p>
        </p:txBody>
      </p:sp>
      <p:sp>
        <p:nvSpPr>
          <p:cNvPr id="29" name="Text 23"/>
          <p:cNvSpPr/>
          <p:nvPr/>
        </p:nvSpPr>
        <p:spPr>
          <a:xfrm>
            <a:off x="6400800" y="3840480"/>
            <a:ext cx="5120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462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8 000</a:t>
            </a:r>
            <a:endParaRPr lang="en-US" sz="3000" dirty="0"/>
          </a:p>
        </p:txBody>
      </p:sp>
      <p:sp>
        <p:nvSpPr>
          <p:cNvPr id="30" name="Text 24"/>
          <p:cNvSpPr/>
          <p:nvPr/>
        </p:nvSpPr>
        <p:spPr>
          <a:xfrm>
            <a:off x="6400800" y="443484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Réparti sur 5 campagnes : Online, In-Store, Social, Email, TV.</a:t>
            </a:r>
            <a:endParaRPr lang="en-US" sz="1150" dirty="0"/>
          </a:p>
        </p:txBody>
      </p:sp>
      <p:sp>
        <p:nvSpPr>
          <p:cNvPr id="31" name="Shape 25"/>
          <p:cNvSpPr/>
          <p:nvPr/>
        </p:nvSpPr>
        <p:spPr>
          <a:xfrm>
            <a:off x="548640" y="5257800"/>
            <a:ext cx="11064240" cy="914400"/>
          </a:xfrm>
          <a:prstGeom prst="roundRect">
            <a:avLst>
              <a:gd name="adj" fmla="val 6000"/>
            </a:avLst>
          </a:prstGeom>
          <a:solidFill>
            <a:srgbClr val="F5F7FB"/>
          </a:solidFill>
          <a:ln/>
        </p:spPr>
      </p:sp>
      <p:sp>
        <p:nvSpPr>
          <p:cNvPr id="32" name="Text 26"/>
          <p:cNvSpPr/>
          <p:nvPr/>
        </p:nvSpPr>
        <p:spPr>
          <a:xfrm>
            <a:off x="822960" y="525780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Préparation : conversion des dates, contrôle des valeurs manquantes, calcul du revenu par vente et jointures entre les quatre sources.</a:t>
            </a:r>
            <a:endParaRPr lang="en-US" sz="1300" dirty="0"/>
          </a:p>
        </p:txBody>
      </p:sp>
      <p:sp>
        <p:nvSpPr>
          <p:cNvPr id="33" name="Text 27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 &amp; Optimisation Marketing  •  ENI Fianarantsoa</a:t>
            </a:r>
            <a:endParaRPr lang="en-US" sz="900" dirty="0"/>
          </a:p>
        </p:txBody>
      </p:sp>
      <p:sp>
        <p:nvSpPr>
          <p:cNvPr id="34" name="Text 28"/>
          <p:cNvSpPr/>
          <p:nvPr/>
        </p:nvSpPr>
        <p:spPr>
          <a:xfrm>
            <a:off x="11430000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Segmentation client (K-means)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Standardisation puis clustering à 3 groupes sur l'âge, la dépense, les commandes, la quantité, le revenu observé et la diversité produits.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474720" cy="3977640"/>
          </a:xfrm>
          <a:prstGeom prst="roundRect">
            <a:avLst>
              <a:gd name="adj" fmla="val 2105"/>
            </a:avLst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965960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Forte valeur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822960" y="246888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46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ALICE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822960" y="2926080"/>
            <a:ext cx="2926080" cy="0"/>
          </a:xfrm>
          <a:prstGeom prst="line">
            <a:avLst/>
          </a:prstGeom>
          <a:noFill/>
          <a:ln w="9525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3108960"/>
            <a:ext cx="29260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Activité d'achat et valeur cumulée élevées.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822960" y="429768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recommandée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822960" y="4572000"/>
            <a:ext cx="29260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Fidélisation, premium, cross-sell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251960" y="1691640"/>
            <a:ext cx="3474720" cy="3977640"/>
          </a:xfrm>
          <a:prstGeom prst="roundRect">
            <a:avLst>
              <a:gd name="adj" fmla="val 2105"/>
            </a:avLst>
          </a:prstGeom>
          <a:solidFill>
            <a:srgbClr val="36407A"/>
          </a:solidFill>
          <a:ln/>
        </p:spPr>
      </p:sp>
      <p:sp>
        <p:nvSpPr>
          <p:cNvPr id="12" name="Text 10"/>
          <p:cNvSpPr/>
          <p:nvPr/>
        </p:nvSpPr>
        <p:spPr>
          <a:xfrm>
            <a:off x="4526280" y="1965960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Intermédiaire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4526280" y="246888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46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BOB, DIANA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26280" y="2926080"/>
            <a:ext cx="2926080" cy="0"/>
          </a:xfrm>
          <a:prstGeom prst="line">
            <a:avLst/>
          </a:prstGeom>
          <a:noFill/>
          <a:ln w="9525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26280" y="3108960"/>
            <a:ext cx="29260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Dépense et fréquence d'achat moyennes.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4526280" y="429768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recommandée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526280" y="4572000"/>
            <a:ext cx="29260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Bundles, recommandations ciblées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7955280" y="1691640"/>
            <a:ext cx="3474720" cy="3977640"/>
          </a:xfrm>
          <a:prstGeom prst="roundRect">
            <a:avLst>
              <a:gd name="adj" fmla="val 2105"/>
            </a:avLst>
          </a:prstGeom>
          <a:solidFill>
            <a:srgbClr val="545F9E"/>
          </a:solidFill>
          <a:ln/>
        </p:spPr>
      </p:sp>
      <p:sp>
        <p:nvSpPr>
          <p:cNvPr id="19" name="Text 17"/>
          <p:cNvSpPr/>
          <p:nvPr/>
        </p:nvSpPr>
        <p:spPr>
          <a:xfrm>
            <a:off x="8229600" y="1965960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Faible activité</a:t>
            </a:r>
            <a:endParaRPr lang="en-US" sz="1900" dirty="0"/>
          </a:p>
        </p:txBody>
      </p:sp>
      <p:sp>
        <p:nvSpPr>
          <p:cNvPr id="20" name="Text 18"/>
          <p:cNvSpPr/>
          <p:nvPr/>
        </p:nvSpPr>
        <p:spPr>
          <a:xfrm>
            <a:off x="8229600" y="246888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46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CHARLIE, EVA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8229600" y="2926080"/>
            <a:ext cx="2926080" cy="0"/>
          </a:xfrm>
          <a:prstGeom prst="line">
            <a:avLst/>
          </a:prstGeom>
          <a:noFill/>
          <a:ln w="9525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229600" y="3108960"/>
            <a:ext cx="29260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Achat ponctuel ou absent sur la période.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8229600" y="429768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recommandée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8229600" y="4572000"/>
            <a:ext cx="29260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Relance e-mail / réseaux, offre de retour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548640" y="58978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Échantillon de 5 clients : lecture illustrative des profils, non un résultat statistiquement validé.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 &amp; Optimisation Marketing  •  ENI Fianarantsoa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1430000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Performance des campagnes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8 000 de budget, 200 000 impressions, 8 000 clics et 750 conversions au total.</a:t>
            </a:r>
            <a:endParaRPr lang="en-US" sz="1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600200"/>
          <a:ext cx="6126480" cy="4480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6995160" y="1645920"/>
            <a:ext cx="4617720" cy="868680"/>
          </a:xfrm>
          <a:prstGeom prst="roundRect">
            <a:avLst>
              <a:gd name="adj" fmla="val 6316"/>
            </a:avLst>
          </a:prstGeom>
          <a:solidFill>
            <a:srgbClr val="F5F7FB"/>
          </a:solidFill>
          <a:ln/>
        </p:spPr>
      </p:sp>
      <p:sp>
        <p:nvSpPr>
          <p:cNvPr id="6" name="Text 3"/>
          <p:cNvSpPr/>
          <p:nvPr/>
        </p:nvSpPr>
        <p:spPr>
          <a:xfrm>
            <a:off x="7223760" y="1719072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CTR global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7223760" y="2011680"/>
            <a:ext cx="4206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4,00 %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6995160" y="2679192"/>
            <a:ext cx="4617720" cy="868680"/>
          </a:xfrm>
          <a:prstGeom prst="roundRect">
            <a:avLst>
              <a:gd name="adj" fmla="val 6316"/>
            </a:avLst>
          </a:prstGeom>
          <a:solidFill>
            <a:srgbClr val="F5F7FB"/>
          </a:solidFill>
          <a:ln/>
        </p:spPr>
      </p:sp>
      <p:sp>
        <p:nvSpPr>
          <p:cNvPr id="9" name="Text 6"/>
          <p:cNvSpPr/>
          <p:nvPr/>
        </p:nvSpPr>
        <p:spPr>
          <a:xfrm>
            <a:off x="7223760" y="2752344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Conversion clic → conversion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7223760" y="3044952"/>
            <a:ext cx="4206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9,38 %</a:t>
            </a:r>
            <a:endParaRPr lang="en-US" sz="1800" dirty="0"/>
          </a:p>
        </p:txBody>
      </p:sp>
      <p:sp>
        <p:nvSpPr>
          <p:cNvPr id="11" name="Shape 8"/>
          <p:cNvSpPr/>
          <p:nvPr/>
        </p:nvSpPr>
        <p:spPr>
          <a:xfrm>
            <a:off x="6995160" y="3712464"/>
            <a:ext cx="4617720" cy="868680"/>
          </a:xfrm>
          <a:prstGeom prst="roundRect">
            <a:avLst>
              <a:gd name="adj" fmla="val 6316"/>
            </a:avLst>
          </a:prstGeom>
          <a:solidFill>
            <a:srgbClr val="F5F7FB"/>
          </a:solidFill>
          <a:ln/>
        </p:spPr>
      </p:sp>
      <p:sp>
        <p:nvSpPr>
          <p:cNvPr id="12" name="Text 9"/>
          <p:cNvSpPr/>
          <p:nvPr/>
        </p:nvSpPr>
        <p:spPr>
          <a:xfrm>
            <a:off x="7223760" y="3785616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Meilleur taux de conversion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7223760" y="4078224"/>
            <a:ext cx="4206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In-Store — 20,00 %</a:t>
            </a:r>
            <a:endParaRPr lang="en-US" sz="1800" dirty="0"/>
          </a:p>
        </p:txBody>
      </p:sp>
      <p:sp>
        <p:nvSpPr>
          <p:cNvPr id="14" name="Shape 11"/>
          <p:cNvSpPr/>
          <p:nvPr/>
        </p:nvSpPr>
        <p:spPr>
          <a:xfrm>
            <a:off x="6995160" y="4745736"/>
            <a:ext cx="4617720" cy="868680"/>
          </a:xfrm>
          <a:prstGeom prst="roundRect">
            <a:avLst>
              <a:gd name="adj" fmla="val 6316"/>
            </a:avLst>
          </a:prstGeom>
          <a:solidFill>
            <a:srgbClr val="F5F7FB"/>
          </a:solidFill>
          <a:ln/>
        </p:spPr>
      </p:sp>
      <p:sp>
        <p:nvSpPr>
          <p:cNvPr id="15" name="Text 12"/>
          <p:cNvSpPr/>
          <p:nvPr/>
        </p:nvSpPr>
        <p:spPr>
          <a:xfrm>
            <a:off x="7223760" y="4818888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CPA le plus bas</a:t>
            </a:r>
            <a:endParaRPr lang="en-US" sz="1150" dirty="0"/>
          </a:p>
        </p:txBody>
      </p:sp>
      <p:sp>
        <p:nvSpPr>
          <p:cNvPr id="16" name="Text 13"/>
          <p:cNvSpPr/>
          <p:nvPr/>
        </p:nvSpPr>
        <p:spPr>
          <a:xfrm>
            <a:off x="7223760" y="5111496"/>
            <a:ext cx="4206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Online — 6,67</a:t>
            </a:r>
            <a:endParaRPr lang="en-US" sz="1800" dirty="0"/>
          </a:p>
        </p:txBody>
      </p:sp>
      <p:sp>
        <p:nvSpPr>
          <p:cNvPr id="17" name="Text 14"/>
          <p:cNvSpPr/>
          <p:nvPr/>
        </p:nvSpPr>
        <p:spPr>
          <a:xfrm>
            <a:off x="6995160" y="5824728"/>
            <a:ext cx="4617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ROI non calculable : le chiffre d'affaires attribué à chaque campagne n'est pas fourni.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 &amp; Optimisation Marketing  •  ENI Fianarantsoa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11430000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Stratégie marketing personnalisée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action différenciée par segment, avec un appui de l'IA générative encadré par une validation humaine.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5" name="Image 0" descr="icon_st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5061" y="1903781"/>
            <a:ext cx="307238" cy="30723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417320" y="1719072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Forte valeur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1417320" y="2084832"/>
            <a:ext cx="98755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Programme de fidélité, recommandations de produits complémentaires, offres premium, communication personnalisée.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548640" y="292608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9" name="Image 1" descr="icon_layer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5061" y="3092501"/>
            <a:ext cx="307238" cy="30723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417320" y="2907792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Intermédiaire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1417320" y="3273552"/>
            <a:ext cx="98755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Bundles, remises conditionnelles, contenus pédagogiques ciblés, relance après achat.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548640" y="411480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3" name="Image 2" descr="icon_refresh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5061" y="4281221"/>
            <a:ext cx="307238" cy="307238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417320" y="4096512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Faible activité</a:t>
            </a:r>
            <a:endParaRPr lang="en-US" sz="1500" dirty="0"/>
          </a:p>
        </p:txBody>
      </p:sp>
      <p:sp>
        <p:nvSpPr>
          <p:cNvPr id="15" name="Text 10"/>
          <p:cNvSpPr/>
          <p:nvPr/>
        </p:nvSpPr>
        <p:spPr>
          <a:xfrm>
            <a:off x="1417320" y="4462272"/>
            <a:ext cx="98755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Retargeting e-mail et réseaux sociaux, offre de retour limitée dans le temps, rappel des avantages.</a:t>
            </a:r>
            <a:endParaRPr lang="en-US" sz="1300" dirty="0"/>
          </a:p>
        </p:txBody>
      </p:sp>
      <p:sp>
        <p:nvSpPr>
          <p:cNvPr id="16" name="Shape 11"/>
          <p:cNvSpPr/>
          <p:nvPr/>
        </p:nvSpPr>
        <p:spPr>
          <a:xfrm>
            <a:off x="548640" y="5349240"/>
            <a:ext cx="11064240" cy="1051560"/>
          </a:xfrm>
          <a:prstGeom prst="roundRect">
            <a:avLst>
              <a:gd name="adj" fmla="val 6957"/>
            </a:avLst>
          </a:prstGeom>
          <a:solidFill>
            <a:srgbClr val="1E2761"/>
          </a:solidFill>
          <a:ln/>
        </p:spPr>
      </p:sp>
      <p:sp>
        <p:nvSpPr>
          <p:cNvPr id="17" name="Shape 12"/>
          <p:cNvSpPr/>
          <p:nvPr/>
        </p:nvSpPr>
        <p:spPr>
          <a:xfrm>
            <a:off x="822960" y="5522976"/>
            <a:ext cx="621792" cy="621792"/>
          </a:xfrm>
          <a:prstGeom prst="ellipse">
            <a:avLst/>
          </a:prstGeom>
          <a:solidFill>
            <a:srgbClr val="F4623A"/>
          </a:solidFill>
          <a:ln/>
        </p:spPr>
      </p:sp>
      <p:pic>
        <p:nvPicPr>
          <p:cNvPr id="18" name="Image 3" descr="icon_compas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4626" y="5684642"/>
            <a:ext cx="298460" cy="29846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691640" y="5449824"/>
            <a:ext cx="9692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générative, sous contrôle humain</a:t>
            </a:r>
            <a:endParaRPr lang="en-US" sz="1300" dirty="0"/>
          </a:p>
        </p:txBody>
      </p:sp>
      <p:sp>
        <p:nvSpPr>
          <p:cNvPr id="20" name="Text 14"/>
          <p:cNvSpPr/>
          <p:nvPr/>
        </p:nvSpPr>
        <p:spPr>
          <a:xfrm>
            <a:off x="1691640" y="5760720"/>
            <a:ext cx="96926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de variantes de contenus par segment (objet, accroche, visuel), avec validation des règles métier et des KPI avant diffusion.</a:t>
            </a:r>
            <a:endParaRPr lang="en-US" sz="1200" dirty="0"/>
          </a:p>
        </p:txBody>
      </p:sp>
      <p:sp>
        <p:nvSpPr>
          <p:cNvPr id="21" name="Text 15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 &amp; Optimisation Marketing  •  ENI Fianarantsoa</a:t>
            </a:r>
            <a:endParaRPr lang="en-US" sz="900" dirty="0"/>
          </a:p>
        </p:txBody>
      </p:sp>
      <p:sp>
        <p:nvSpPr>
          <p:cNvPr id="22" name="Text 16"/>
          <p:cNvSpPr/>
          <p:nvPr/>
        </p:nvSpPr>
        <p:spPr>
          <a:xfrm>
            <a:off x="11430000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41B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Churn / CLV : modèle exploratoire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051560"/>
            <a:ext cx="11064240" cy="868680"/>
          </a:xfrm>
          <a:prstGeom prst="roundRect">
            <a:avLst>
              <a:gd name="adj" fmla="val 8421"/>
            </a:avLst>
          </a:prstGeom>
          <a:solidFill>
            <a:srgbClr val="5A2A2A"/>
          </a:solidFill>
          <a:ln/>
        </p:spPr>
      </p:sp>
      <p:sp>
        <p:nvSpPr>
          <p:cNvPr id="4" name="Shape 2"/>
          <p:cNvSpPr/>
          <p:nvPr/>
        </p:nvSpPr>
        <p:spPr>
          <a:xfrm>
            <a:off x="777240" y="1234440"/>
            <a:ext cx="530352" cy="530352"/>
          </a:xfrm>
          <a:prstGeom prst="ellipse">
            <a:avLst/>
          </a:prstGeom>
          <a:solidFill>
            <a:srgbClr val="F4623A"/>
          </a:solidFill>
          <a:ln/>
        </p:spPr>
      </p:sp>
      <p:pic>
        <p:nvPicPr>
          <p:cNvPr id="5" name="Image 0" descr="icon_aler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5132" y="1372332"/>
            <a:ext cx="254569" cy="254569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508760" y="1097280"/>
            <a:ext cx="9921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Fiabilité limitée : régression logistique entraînée sur 5 clients seulement, avec un proxy de churn (aucune vente enregistrée). Résultats illustratifs — pas une base de décision commerciale réelle.</a:t>
            </a:r>
            <a:endParaRPr lang="en-US" sz="125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148840"/>
          <a:ext cx="6400800" cy="2743200"/>
        </p:xfrm>
        <a:graphic>
          <a:graphicData uri="http://schemas.openxmlformats.org/drawingml/2006/table">
            <a:tbl>
              <a:tblPr/>
              <a:tblGrid>
                <a:gridCol w="1737360"/>
                <a:gridCol w="1554480"/>
                <a:gridCol w="1554480"/>
                <a:gridCol w="155448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Client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41B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41B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1B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41B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337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Churn proxy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41B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41B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1B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41B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337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Risque modèle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41B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41B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1B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41B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337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CLV projetée 12m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41B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41B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1B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41B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3373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E4E7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Alice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41B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41B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1B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41B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B6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E4E7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41B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41B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1B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41B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B6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E4E7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5,0 %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41B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41B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1B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41B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B6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E4E7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683,52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41B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41B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1B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41B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B63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E4E7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Bob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41B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41B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1B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41B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B6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E4E7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41B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41B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1B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41B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B6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E4E7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5,4 %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41B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41B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1B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41B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B6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E4E7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1 185,06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41B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41B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1B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41B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B63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E4E7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Charlie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41B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41B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1B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41B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B6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E4E7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41B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41B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1B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41B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B6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E4E7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11,8 %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41B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41B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1B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41B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B6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E4E7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558,67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41B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41B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1B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41B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B63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E4E7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Diana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41B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41B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1B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41B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B6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E4E7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41B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41B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1B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41B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B6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E4E7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11,7 %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41B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41B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1B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41B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B6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E4E7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1 368,75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41B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41B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1B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41B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B63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F462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41B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41B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1B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41B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22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F462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41B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41B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1B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41B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22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F462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66,0 %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41B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41B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1B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41B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22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F462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1 324,60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41B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41B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1B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41B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2244"/>
                    </a:solidFill>
                  </a:tcPr>
                </a:tc>
              </a:tr>
            </a:tbl>
          </a:graphicData>
        </a:graphic>
      </p:graphicFrame>
      <p:sp>
        <p:nvSpPr>
          <p:cNvPr id="8" name="Text 4"/>
          <p:cNvSpPr/>
          <p:nvPr/>
        </p:nvSpPr>
        <p:spPr>
          <a:xfrm>
            <a:off x="7315200" y="2194560"/>
            <a:ext cx="4297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qu'il faudrait pour un vrai modèle en production</a:t>
            </a:r>
            <a:endParaRPr lang="en-US" sz="1300" dirty="0"/>
          </a:p>
        </p:txBody>
      </p:sp>
      <p:sp>
        <p:nvSpPr>
          <p:cNvPr id="9" name="Shape 5"/>
          <p:cNvSpPr/>
          <p:nvPr/>
        </p:nvSpPr>
        <p:spPr>
          <a:xfrm>
            <a:off x="7315200" y="2862072"/>
            <a:ext cx="109728" cy="109728"/>
          </a:xfrm>
          <a:prstGeom prst="ellipse">
            <a:avLst/>
          </a:prstGeom>
          <a:solidFill>
            <a:srgbClr val="F4623A"/>
          </a:solidFill>
          <a:ln/>
        </p:spPr>
      </p:sp>
      <p:sp>
        <p:nvSpPr>
          <p:cNvPr id="10" name="Text 6"/>
          <p:cNvSpPr/>
          <p:nvPr/>
        </p:nvSpPr>
        <p:spPr>
          <a:xfrm>
            <a:off x="7589520" y="2715768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Historique multi-périodes par client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7315200" y="3429000"/>
            <a:ext cx="109728" cy="109728"/>
          </a:xfrm>
          <a:prstGeom prst="ellipse">
            <a:avLst/>
          </a:prstGeom>
          <a:solidFill>
            <a:srgbClr val="F4623A"/>
          </a:solidFill>
          <a:ln/>
        </p:spPr>
      </p:sp>
      <p:sp>
        <p:nvSpPr>
          <p:cNvPr id="12" name="Text 8"/>
          <p:cNvSpPr/>
          <p:nvPr/>
        </p:nvSpPr>
        <p:spPr>
          <a:xfrm>
            <a:off x="7589520" y="3282696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Définition mesurée du churn (ex. N jours sans achat)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7315200" y="3995928"/>
            <a:ext cx="109728" cy="109728"/>
          </a:xfrm>
          <a:prstGeom prst="ellipse">
            <a:avLst/>
          </a:prstGeom>
          <a:solidFill>
            <a:srgbClr val="F4623A"/>
          </a:solidFill>
          <a:ln/>
        </p:spPr>
      </p:sp>
      <p:sp>
        <p:nvSpPr>
          <p:cNvPr id="14" name="Text 10"/>
          <p:cNvSpPr/>
          <p:nvPr/>
        </p:nvSpPr>
        <p:spPr>
          <a:xfrm>
            <a:off x="7589520" y="3849624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Marge ou revenu par client (CLV fiable)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548640" y="507492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AEB6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Eva, seule cliente sans achat enregistré, ressort avec le risque de churn le plus élevé (66 %) — cohérent avec l'intuition métier malgré la taille de l'échantillon.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 &amp; Optimisation Marketing  •  ENI Fianarantsoa</a:t>
            </a:r>
            <a:endParaRPr lang="en-US" sz="900" dirty="0"/>
          </a:p>
        </p:txBody>
      </p:sp>
      <p:sp>
        <p:nvSpPr>
          <p:cNvPr id="17" name="Text 13"/>
          <p:cNvSpPr/>
          <p:nvPr/>
        </p:nvSpPr>
        <p:spPr>
          <a:xfrm>
            <a:off x="11430000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Dashboard interactif Streamlit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Segmentation, campagnes et churn/CLV recalculés en direct à partir des 4 fichiers sources.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11064240" cy="4663440"/>
          </a:xfrm>
          <a:prstGeom prst="roundRect">
            <a:avLst>
              <a:gd name="adj" fmla="val 980"/>
            </a:avLst>
          </a:prstGeom>
          <a:solidFill>
            <a:srgbClr val="F5F7FB"/>
          </a:solidFill>
          <a:ln w="12700">
            <a:solidFill>
              <a:srgbClr val="D8DCEA"/>
            </a:solidFill>
            <a:prstDash val="solid"/>
          </a:ln>
        </p:spPr>
      </p:sp>
      <p:pic>
        <p:nvPicPr>
          <p:cNvPr id="5" name="Image 0" descr="dashboard_shot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77240" y="1600200"/>
            <a:ext cx="10607040" cy="431596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 &amp; Optimisation Marketing  •  ENI Fianarantsoa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1430000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685800"/>
            <a:ext cx="1219169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Livrables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0" y="1234440"/>
            <a:ext cx="121916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que ce projet remet, module par module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86588" y="1965960"/>
            <a:ext cx="3520440" cy="1737360"/>
          </a:xfrm>
          <a:prstGeom prst="roundRect">
            <a:avLst>
              <a:gd name="adj" fmla="val 4211"/>
            </a:avLst>
          </a:prstGeom>
          <a:solidFill>
            <a:srgbClr val="2A3373"/>
          </a:solidFill>
          <a:ln/>
        </p:spPr>
      </p:sp>
      <p:sp>
        <p:nvSpPr>
          <p:cNvPr id="5" name="Shape 3"/>
          <p:cNvSpPr/>
          <p:nvPr/>
        </p:nvSpPr>
        <p:spPr>
          <a:xfrm>
            <a:off x="2026768" y="2221992"/>
            <a:ext cx="640080" cy="640080"/>
          </a:xfrm>
          <a:prstGeom prst="ellipse">
            <a:avLst/>
          </a:prstGeom>
          <a:solidFill>
            <a:srgbClr val="F4623A"/>
          </a:solidFill>
          <a:ln/>
        </p:spPr>
      </p:sp>
      <p:pic>
        <p:nvPicPr>
          <p:cNvPr id="6" name="Image 0" descr="icon_user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93188" y="2388413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15188" y="2926080"/>
            <a:ext cx="30632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Segmentation client et profils détaillés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4335628" y="1965960"/>
            <a:ext cx="3520440" cy="1737360"/>
          </a:xfrm>
          <a:prstGeom prst="roundRect">
            <a:avLst>
              <a:gd name="adj" fmla="val 4211"/>
            </a:avLst>
          </a:prstGeom>
          <a:solidFill>
            <a:srgbClr val="2A3373"/>
          </a:solidFill>
          <a:ln/>
        </p:spPr>
      </p:sp>
      <p:sp>
        <p:nvSpPr>
          <p:cNvPr id="9" name="Shape 6"/>
          <p:cNvSpPr/>
          <p:nvPr/>
        </p:nvSpPr>
        <p:spPr>
          <a:xfrm>
            <a:off x="5775808" y="2221992"/>
            <a:ext cx="640080" cy="640080"/>
          </a:xfrm>
          <a:prstGeom prst="ellipse">
            <a:avLst/>
          </a:prstGeom>
          <a:solidFill>
            <a:srgbClr val="F4623A"/>
          </a:solidFill>
          <a:ln/>
        </p:spPr>
      </p:sp>
      <p:pic>
        <p:nvPicPr>
          <p:cNvPr id="10" name="Image 1" descr="icon_trending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2228" y="2388413"/>
            <a:ext cx="307238" cy="30723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564228" y="2926080"/>
            <a:ext cx="30632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 des campagnes et recommandations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8084668" y="1965960"/>
            <a:ext cx="3520440" cy="1737360"/>
          </a:xfrm>
          <a:prstGeom prst="roundRect">
            <a:avLst>
              <a:gd name="adj" fmla="val 4211"/>
            </a:avLst>
          </a:prstGeom>
          <a:solidFill>
            <a:srgbClr val="2A3373"/>
          </a:solidFill>
          <a:ln/>
        </p:spPr>
      </p:sp>
      <p:sp>
        <p:nvSpPr>
          <p:cNvPr id="13" name="Shape 9"/>
          <p:cNvSpPr/>
          <p:nvPr/>
        </p:nvSpPr>
        <p:spPr>
          <a:xfrm>
            <a:off x="9524848" y="2221992"/>
            <a:ext cx="640080" cy="640080"/>
          </a:xfrm>
          <a:prstGeom prst="ellipse">
            <a:avLst/>
          </a:prstGeom>
          <a:solidFill>
            <a:srgbClr val="F4623A"/>
          </a:solidFill>
          <a:ln/>
        </p:spPr>
      </p:sp>
      <p:pic>
        <p:nvPicPr>
          <p:cNvPr id="14" name="Image 2" descr="icon_aler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91268" y="2388413"/>
            <a:ext cx="307238" cy="307238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8313268" y="2926080"/>
            <a:ext cx="30632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Modèle exploratoire churn / CLV, avec avertissement</a:t>
            </a:r>
            <a:endParaRPr lang="en-US" sz="1250" dirty="0"/>
          </a:p>
        </p:txBody>
      </p:sp>
      <p:sp>
        <p:nvSpPr>
          <p:cNvPr id="16" name="Shape 11"/>
          <p:cNvSpPr/>
          <p:nvPr/>
        </p:nvSpPr>
        <p:spPr>
          <a:xfrm>
            <a:off x="586588" y="3977640"/>
            <a:ext cx="3520440" cy="1737360"/>
          </a:xfrm>
          <a:prstGeom prst="roundRect">
            <a:avLst>
              <a:gd name="adj" fmla="val 4211"/>
            </a:avLst>
          </a:prstGeom>
          <a:solidFill>
            <a:srgbClr val="2A3373"/>
          </a:solidFill>
          <a:ln/>
        </p:spPr>
      </p:sp>
      <p:sp>
        <p:nvSpPr>
          <p:cNvPr id="17" name="Shape 12"/>
          <p:cNvSpPr/>
          <p:nvPr/>
        </p:nvSpPr>
        <p:spPr>
          <a:xfrm>
            <a:off x="2026768" y="4233672"/>
            <a:ext cx="640080" cy="640080"/>
          </a:xfrm>
          <a:prstGeom prst="ellipse">
            <a:avLst/>
          </a:prstGeom>
          <a:solidFill>
            <a:srgbClr val="F4623A"/>
          </a:solidFill>
          <a:ln/>
        </p:spPr>
      </p:sp>
      <p:pic>
        <p:nvPicPr>
          <p:cNvPr id="18" name="Image 3" descr="icon_pi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93188" y="4400093"/>
            <a:ext cx="307238" cy="307238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815188" y="4937760"/>
            <a:ext cx="30632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interactif Streamlit</a:t>
            </a:r>
            <a:endParaRPr lang="en-US" sz="1250" dirty="0"/>
          </a:p>
        </p:txBody>
      </p:sp>
      <p:sp>
        <p:nvSpPr>
          <p:cNvPr id="20" name="Shape 14"/>
          <p:cNvSpPr/>
          <p:nvPr/>
        </p:nvSpPr>
        <p:spPr>
          <a:xfrm>
            <a:off x="4335628" y="3977640"/>
            <a:ext cx="3520440" cy="1737360"/>
          </a:xfrm>
          <a:prstGeom prst="roundRect">
            <a:avLst>
              <a:gd name="adj" fmla="val 4211"/>
            </a:avLst>
          </a:prstGeom>
          <a:solidFill>
            <a:srgbClr val="2A3373"/>
          </a:solidFill>
          <a:ln/>
        </p:spPr>
      </p:sp>
      <p:sp>
        <p:nvSpPr>
          <p:cNvPr id="21" name="Shape 15"/>
          <p:cNvSpPr/>
          <p:nvPr/>
        </p:nvSpPr>
        <p:spPr>
          <a:xfrm>
            <a:off x="5775808" y="4233672"/>
            <a:ext cx="640080" cy="640080"/>
          </a:xfrm>
          <a:prstGeom prst="ellipse">
            <a:avLst/>
          </a:prstGeom>
          <a:solidFill>
            <a:srgbClr val="F4623A"/>
          </a:solidFill>
          <a:ln/>
        </p:spPr>
      </p:sp>
      <p:pic>
        <p:nvPicPr>
          <p:cNvPr id="22" name="Image 4" descr="icon_check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42228" y="4400093"/>
            <a:ext cx="307238" cy="307238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4564228" y="4937760"/>
            <a:ext cx="30632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Rapport (Word/PDF) et présentation PowerPoint</a:t>
            </a:r>
            <a:endParaRPr lang="en-US" sz="1250" dirty="0"/>
          </a:p>
        </p:txBody>
      </p:sp>
      <p:sp>
        <p:nvSpPr>
          <p:cNvPr id="24" name="Text 17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 &amp; Optimisation Marketing  •  ENI Fianarantsoa</a:t>
            </a:r>
            <a:endParaRPr lang="en-US" sz="900" dirty="0"/>
          </a:p>
        </p:txBody>
      </p:sp>
      <p:sp>
        <p:nvSpPr>
          <p:cNvPr id="25" name="Text 18"/>
          <p:cNvSpPr/>
          <p:nvPr/>
        </p:nvSpPr>
        <p:spPr>
          <a:xfrm>
            <a:off x="11430000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2026-09-07T07:38:45Z</dcterms:created>
  <dcterms:modified xsi:type="dcterms:W3CDTF">2026-09-07T07:38:45Z</dcterms:modified>
</cp:coreProperties>
</file>